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segundos — no te quedes acá]</a:t>
            </a:r>
          </a:p>
          <a:p/>
          <a:p>
            <a:r>
              <a:t>"Bueno, buenas. Yo elegí el dataset de Pokémon, lo saqué de Kaggle. Son 800 filas,</a:t>
            </a:r>
          </a:p>
          <a:p>
            <a:r>
              <a:t>13 columnas, y cubre las primeras seis generaciones."</a:t>
            </a:r>
          </a:p>
          <a:p/>
          <a:p>
            <a:r>
              <a:t>"Voy a mostrar dos cosas: primero cómo está armado el dataset, porque tiene un par de</a:t>
            </a:r>
          </a:p>
          <a:p>
            <a:r>
              <a:t>cosas raras que no se ven a simple vista; y después el análisis de outliers, que fue lo</a:t>
            </a:r>
          </a:p>
          <a:p>
            <a:r>
              <a:t>que más me sorprendió."</a:t>
            </a:r>
          </a:p>
          <a:p/>
          <a:p>
            <a:r>
              <a:t>[Pasá a la siguiente]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 a 4 minutos]</a:t>
            </a:r>
          </a:p>
          <a:p/>
          <a:p>
            <a:r>
              <a:t>— ARRANCÁ POR LO BÁSICO —</a:t>
            </a:r>
          </a:p>
          <a:p>
            <a:r>
              <a:t>"Primero lo general: son 800 filas por 13 columnas, ocupa 179 KB. O sea que es chiquito,</a:t>
            </a:r>
          </a:p>
          <a:p>
            <a:r>
              <a:t>entra entero en memoria sin ningún problema."</a:t>
            </a:r>
          </a:p>
          <a:p/>
          <a:p>
            <a:r>
              <a:t>"De las columnas, seis son las stats del Pokémon —vida, ataque, defensa y las dos</a:t>
            </a:r>
          </a:p>
          <a:p>
            <a:r>
              <a:t>especiales, más velocidad—. Después está Total, tres categóricas, una booleana que dice</a:t>
            </a:r>
          </a:p>
          <a:p>
            <a:r>
              <a:t>si es legendario, y dos que son identificadores."</a:t>
            </a:r>
          </a:p>
          <a:p/>
          <a:p>
            <a:r>
              <a:t>"Lo primero que hice fue buscar problemas de calidad. Y la verdad que no encontré: no hay</a:t>
            </a:r>
          </a:p>
          <a:p>
            <a:r>
              <a:t>filas duplicadas, no hay nombres repetidos. Está limpio."</a:t>
            </a:r>
          </a:p>
          <a:p/>
          <a:p>
            <a:r>
              <a:t>— EL GANCHO (hacé una pausa acá) —</a:t>
            </a:r>
          </a:p>
          <a:p>
            <a:r>
              <a:t>"Pero cuando me puse a mirar bien cómo está construido, aparecieron tres cosas."</a:t>
            </a:r>
          </a:p>
          <a:p/>
          <a:p>
            <a:r>
              <a:t>— RAREZA 1 (señalá la barra naranja del gráfico) —</a:t>
            </a:r>
          </a:p>
          <a:p>
            <a:r>
              <a:t>"La primera es esta barra de acá. Type 2 tiene 386 nulos, casi la mitad del dataset. Al</a:t>
            </a:r>
          </a:p>
          <a:p>
            <a:r>
              <a:t>principio pensé «bueno, acá hay un problema de datos faltantes»."</a:t>
            </a:r>
          </a:p>
          <a:p/>
          <a:p>
            <a:r>
              <a:t>"Pero no. Esos 386 son Pokémon que tienen un solo tipo. O sea, el nulo no es que falte el</a:t>
            </a:r>
          </a:p>
          <a:p>
            <a:r>
              <a:t>dato, es que no existe un segundo tipo."</a:t>
            </a:r>
          </a:p>
          <a:p/>
          <a:p>
            <a:r>
              <a:t>"Y esto importa, porque si yo hacía un dropna para limpiar, me borraba el 48 % del dataset</a:t>
            </a:r>
          </a:p>
          <a:p>
            <a:r>
              <a:t>sin ningún motivo. Lo que corresponde es rellenarlo con una categoría que diga «None»."</a:t>
            </a:r>
          </a:p>
          <a:p/>
          <a:p>
            <a:r>
              <a:t>— RAREZA 2 —</a:t>
            </a:r>
          </a:p>
          <a:p>
            <a:r>
              <a:t>"La segunda: el número de Pokédex no sirve como identificador único. Hay 800 filas pero</a:t>
            </a:r>
          </a:p>
          <a:p>
            <a:r>
              <a:t>solo 721 números distintos."</a:t>
            </a:r>
          </a:p>
          <a:p/>
          <a:p>
            <a:r>
              <a:t>"¿Por qué? Porque las Mega evoluciones se quedaron con el número de la forma original.</a:t>
            </a:r>
          </a:p>
          <a:p>
            <a:r>
              <a:t>Por ejemplo, Charizard, Mega Charizard X y Mega Charizard Y son los tres el número 6."</a:t>
            </a:r>
          </a:p>
          <a:p/>
          <a:p>
            <a:r>
              <a:t>— RAREZA 3 (la que más te costó ver) —</a:t>
            </a:r>
          </a:p>
          <a:p>
            <a:r>
              <a:t>"Y la tercera, que es la que más me costó darme cuenta: la columna Total no es un dato</a:t>
            </a:r>
          </a:p>
          <a:p>
            <a:r>
              <a:t>nuevo, es la suma de las otras seis. Me fijé fila por fila y se cumple en las 800, sin una</a:t>
            </a:r>
          </a:p>
          <a:p>
            <a:r>
              <a:t>sola excepción."</a:t>
            </a:r>
          </a:p>
          <a:p/>
          <a:p>
            <a:r>
              <a:t>"Esto me explicó algo que había visto en el trabajo anterior y no entendía: en la matriz</a:t>
            </a:r>
          </a:p>
          <a:p>
            <a:r>
              <a:t>de correlación, Total correlacionaba fuerte con todas las stats, entre 0,6 y 0,75. Y no es</a:t>
            </a:r>
          </a:p>
          <a:p>
            <a:r>
              <a:t>que haya una relación interesante ahí — es simplemente que es la suma."</a:t>
            </a:r>
          </a:p>
          <a:p/>
          <a:p>
            <a:r>
              <a:t>"Si después quisiera armar un modelo, usar Total junto con las seis stats sería un</a:t>
            </a:r>
          </a:p>
          <a:p>
            <a:r>
              <a:t>problema, porque es información repetida."</a:t>
            </a:r>
          </a:p>
          <a:p/>
          <a:p>
            <a:r>
              <a:t>[Pasá a la siguiente]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 a 5 minutos — es la diapo que más pesa]</a:t>
            </a:r>
          </a:p>
          <a:p/>
          <a:p>
            <a:r>
              <a:t>— DETECCIÓN —</a:t>
            </a:r>
          </a:p>
          <a:p>
            <a:r>
              <a:t>"Bueno, y acá viene la parte que más me interesó."</a:t>
            </a:r>
          </a:p>
          <a:p/>
          <a:p>
            <a:r>
              <a:t>"Para los outliers usé la regla del IQR. La idea es: agarro el rango entre el primer y el</a:t>
            </a:r>
          </a:p>
          <a:p>
            <a:r>
              <a:t>tercer cuartil, lo multiplico por 1,5, y todo lo que quede afuera de eso lo marco como</a:t>
            </a:r>
          </a:p>
          <a:p>
            <a:r>
              <a:t>outlier. Es el criterio estándar, el mismo que usa el boxplot para dibujar los puntitos."</a:t>
            </a:r>
          </a:p>
          <a:p/>
          <a:p>
            <a:r>
              <a:t>"Me dieron 52 Pokémon, que es el 6,5 %. Y ninguna stat sola pasa del 2,4 %, así que ahí</a:t>
            </a:r>
          </a:p>
          <a:p>
            <a:r>
              <a:t>ya descarté que hubiera errores de carga."</a:t>
            </a:r>
          </a:p>
          <a:p/>
          <a:p>
            <a:r>
              <a:t>— EL REMATE (bajá la velocidad, es lo más importante) —</a:t>
            </a:r>
          </a:p>
          <a:p>
            <a:r>
              <a:t>"Pero acá está lo raro, y es lo que me gustaría que se lleven: Total no tiene ni un</a:t>
            </a:r>
          </a:p>
          <a:p>
            <a:r>
              <a:t>outlier. Cero. Aunque las seis stats que lo forman sí tienen."</a:t>
            </a:r>
          </a:p>
          <a:p/>
          <a:p>
            <a:r>
              <a:t>"Al principio pensé que me había equivocado en el cálculo. Pero cuando fui a ver quiénes</a:t>
            </a:r>
          </a:p>
          <a:p>
            <a:r>
              <a:t>eran, entendí."</a:t>
            </a:r>
          </a:p>
          <a:p/>
          <a:p>
            <a:r>
              <a:t>"El caso que lo explica es Shuckle. Tiene 230 de defensa y 230 de defensa especial: son</a:t>
            </a:r>
          </a:p>
          <a:p>
            <a:r>
              <a:t>los dos valores más altos de todo el dataset. Pero tiene 5 de velocidad y 10 de ataque. Y</a:t>
            </a:r>
          </a:p>
          <a:p>
            <a:r>
              <a:t>cuando sumás todo te da 505, que es un Pokémon totalmente normal."</a:t>
            </a:r>
          </a:p>
          <a:p/>
          <a:p>
            <a:r>
              <a:t>"O sea, los outliers de este dataset no son Pokémon más poderosos. Son Pokémon</a:t>
            </a:r>
          </a:p>
          <a:p>
            <a:r>
              <a:t>desbalanceados. El juego reparte una cantidad fija de puntos, y si sos muy bueno en algo</a:t>
            </a:r>
          </a:p>
          <a:p>
            <a:r>
              <a:t>lo pagás siendo muy malo en otra cosa."</a:t>
            </a:r>
          </a:p>
          <a:p/>
          <a:p>
            <a:r>
              <a:t>— NATURALEZA (quiénes son) —</a:t>
            </a:r>
          </a:p>
          <a:p>
            <a:r>
              <a:t>"Después me puse a ver quiénes eran, porque eso es lo que decide si los saco o no."</a:t>
            </a:r>
          </a:p>
          <a:p/>
          <a:p>
            <a:r>
              <a:t>"El caso más extremo es Shedinja, que tiene 1 de vida. Es el único que queda por debajo</a:t>
            </a:r>
          </a:p>
          <a:p>
            <a:r>
              <a:t>del límite en las 800 filas y en las seis stats. Y cuando lo busqué, resulta que no es un</a:t>
            </a:r>
          </a:p>
          <a:p>
            <a:r>
              <a:t>error: en el juego tiene una habilidad que lo hace casi invulnerable, entonces le pusieron</a:t>
            </a:r>
          </a:p>
          <a:p>
            <a:r>
              <a:t>1 de vida a propósito, para compensar."</a:t>
            </a:r>
          </a:p>
          <a:p/>
          <a:p>
            <a:r>
              <a:t>"Me pareció interesante eso: el dato más raro de todo el dataset está puesto ahí a</a:t>
            </a:r>
          </a:p>
          <a:p>
            <a:r>
              <a:t>propósito."</a:t>
            </a:r>
          </a:p>
          <a:p/>
          <a:p>
            <a:r>
              <a:t>— LA DECISIÓN —</a:t>
            </a:r>
          </a:p>
          <a:p>
            <a:r>
              <a:t>"Y por eso decidí no eliminarlos. Por dos razones."</a:t>
            </a:r>
          </a:p>
          <a:p/>
          <a:p>
            <a:r>
              <a:t>"Una, que ya la dije: no son errores, son casos reales."</a:t>
            </a:r>
          </a:p>
          <a:p/>
          <a:p>
            <a:r>
              <a:t>"Y la otra, que me parece más fuerte: el 36,5 % de los outliers son legendarios, cuando en</a:t>
            </a:r>
          </a:p>
          <a:p>
            <a:r>
              <a:t>el dataset entero los legendarios son el 8,1 %. O sea que están sobrerrepresentados cuatro</a:t>
            </a:r>
          </a:p>
          <a:p>
            <a:r>
              <a:t>veces y media. Ser extremo es justamente lo que hace que un Pokémon sea legendario."</a:t>
            </a:r>
          </a:p>
          <a:p/>
          <a:p>
            <a:r>
              <a:t>"Si yo los borraba, me quedaba sin 19 de los 65 legendarios. Casi un tercio. Y en un</a:t>
            </a:r>
          </a:p>
          <a:p>
            <a:r>
              <a:t>dataset que ya venía desbalanceado."</a:t>
            </a:r>
          </a:p>
          <a:p/>
          <a:p>
            <a:r>
              <a:t>"Así que acá el outlier no es ruido, es la señal."</a:t>
            </a:r>
          </a:p>
          <a:p/>
          <a:p>
            <a:r>
              <a:t>— CIERRE —</a:t>
            </a:r>
          </a:p>
          <a:p>
            <a:r>
              <a:t>"Y para cerrar: lo que aprendí de este dataset es que no tiene problemas de calidad, tiene</a:t>
            </a:r>
          </a:p>
          <a:p>
            <a:r>
              <a:t>problemas de estructura. No hay datos mal cargados. Lo que hay es información repetida,</a:t>
            </a:r>
          </a:p>
          <a:p>
            <a:r>
              <a:t>categorías con muy pocos casos, una clase desbalanceada, y filas que son casi duplicadas</a:t>
            </a:r>
          </a:p>
          <a:p>
            <a:r>
              <a:t>entre sí."</a:t>
            </a:r>
          </a:p>
          <a:p/>
          <a:p>
            <a:r>
              <a:t>"Por eso las técnicas que propondría son: escalar con RobustScaler, que usa la mediana en</a:t>
            </a:r>
          </a:p>
          <a:p>
            <a:r>
              <a:t>vez del promedio; separar train y test agrupando por número de Pokédex, para que un</a:t>
            </a:r>
          </a:p>
          <a:p>
            <a:r>
              <a:t>Pokémon y su Mega no queden de lados distintos; y usar F1 o recall en vez de accuracy, por</a:t>
            </a:r>
          </a:p>
          <a:p>
            <a:r>
              <a:t>el desbalance."</a:t>
            </a:r>
          </a:p>
          <a:p/>
          <a:p>
            <a:r>
              <a:t>"Eso es todo. Gracias."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97316"/>
                </a:solidFill>
                <a:latin typeface="Segoe UI"/>
              </a:rPr>
              <a:t>IUA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949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8FAFC"/>
                </a:solidFill>
                <a:latin typeface="Segoe UI"/>
              </a:rPr>
              <a:t>EDA — Dataset Pokémon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2300" b="0">
                <a:solidFill>
                  <a:srgbClr val="94A3B8"/>
                </a:solidFill>
                <a:latin typeface="Segoe UI"/>
              </a:rPr>
              <a:t>800 registros · 6 generaciones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Actividad 3 · Inteligencia Artificial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2000" b="1">
                <a:solidFill>
                  <a:srgbClr val="F8FAFC"/>
                </a:solidFill>
                <a:latin typeface="Segoe UI"/>
              </a:rPr>
              <a:t>Rodeyro, Agustín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00200"/>
            <a:ext cx="3429000" cy="3566160"/>
          </a:xfrm>
          <a:prstGeom prst="roundRect">
            <a:avLst>
              <a:gd name="adj" fmla="val 3500"/>
            </a:avLst>
          </a:prstGeom>
          <a:solidFill>
            <a:srgbClr val="1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965960"/>
            <a:ext cx="2651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Segoe UI"/>
              </a:rPr>
              <a:t>EL DATASET EN NÚMEROS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sz="3000" b="1">
                <a:solidFill>
                  <a:srgbClr val="F8FAFC"/>
                </a:solidFill>
                <a:latin typeface="Segoe UI"/>
              </a:rPr>
              <a:t>800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filas × 13 columnas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3000" b="1">
                <a:solidFill>
                  <a:srgbClr val="F8FAFC"/>
                </a:solidFill>
                <a:latin typeface="Segoe UI"/>
              </a:rPr>
              <a:t>18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tipos primarios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3000" b="1">
                <a:solidFill>
                  <a:srgbClr val="F8FAFC"/>
                </a:solidFill>
                <a:latin typeface="Segoe UI"/>
              </a:rPr>
              <a:t>65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legendarios (8,1 %)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github.com/agusclap/actividad-eda-pokemon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8FAFC"/>
                </a:solidFill>
                <a:latin typeface="Segoe UI"/>
              </a:rPr>
              <a:t>El dataset y sus tres rarezas estructurales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074920" cy="3758184"/>
          </a:xfrm>
          <a:prstGeom prst="roundRect">
            <a:avLst>
              <a:gd name="adj" fmla="val 3500"/>
            </a:avLst>
          </a:prstGeom>
          <a:solidFill>
            <a:srgbClr val="1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43891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Segoe UI"/>
              </a:rPr>
              <a:t>FICHA TÉCNICA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1400" b="0">
                <a:solidFill>
                  <a:srgbClr val="F8FAFC"/>
                </a:solidFill>
                <a:latin typeface="Segoe UI"/>
              </a:rPr>
              <a:t>Pokémon (Kaggle) — 800 × 13 · 179 KB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150" b="0">
                <a:solidFill>
                  <a:srgbClr val="94A3B8"/>
                </a:solidFill>
                <a:latin typeface="Segoe UI"/>
              </a:rPr>
              <a:t>Entra entero en memoria: no requiere muestreo, pero son pocas filas para modelos complejos.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1250" b="0">
                <a:solidFill>
                  <a:srgbClr val="F8FAFC"/>
                </a:solidFill>
                <a:latin typeface="Segoe UI"/>
              </a:rPr>
              <a:t>6 numéricas   stats base (HP … Speed)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>
                <a:solidFill>
                  <a:srgbClr val="F8FAFC"/>
                </a:solidFill>
                <a:latin typeface="Segoe UI"/>
              </a:rPr>
              <a:t>1 derivada   Total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>
                <a:solidFill>
                  <a:srgbClr val="F8FAFC"/>
                </a:solidFill>
                <a:latin typeface="Segoe UI"/>
              </a:rPr>
              <a:t>3 categóricas   Type 1, Type 2, Generation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>
                <a:solidFill>
                  <a:srgbClr val="F8FAFC"/>
                </a:solidFill>
                <a:latin typeface="Segoe UI"/>
              </a:rPr>
              <a:t>1 booleana   Legendary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>
                <a:solidFill>
                  <a:srgbClr val="F8FAFC"/>
                </a:solidFill>
                <a:latin typeface="Segoe UI"/>
              </a:rPr>
              <a:t>2 identificadores   #, Name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sz="1300" b="1">
                <a:solidFill>
                  <a:srgbClr val="F97316"/>
                </a:solidFill>
                <a:latin typeface="Segoe UI"/>
              </a:rPr>
              <a:t>0 duplicados exactos · 0 nulos reales</a:t>
            </a:r>
          </a:p>
        </p:txBody>
      </p:sp>
      <p:pic>
        <p:nvPicPr>
          <p:cNvPr id="6" name="Picture 5" descr="completit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34440"/>
            <a:ext cx="5742432" cy="37325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193792"/>
            <a:ext cx="11091672" cy="1298448"/>
          </a:xfrm>
          <a:prstGeom prst="roundRect">
            <a:avLst>
              <a:gd name="adj" fmla="val 3500"/>
            </a:avLst>
          </a:prstGeom>
          <a:solidFill>
            <a:srgbClr val="101B33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376672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97316"/>
                </a:solidFill>
                <a:latin typeface="Segoe UI"/>
              </a:rPr>
              <a:t>⚠  Hallazgo clave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1.  Los 386 nulos de Type 2 no son datos faltantes: son Pokémon mono-tipo. Un dropna() borraría el 48 % del dataset.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2.  # no es clave primaria — 800 filas pero 721 números: las 49 formas Mega comparten número con su forma base.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3.  Total es una columna derivada: suma exacta de las 6 stats en las 800 filas → multicolinealidad perfecta.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1055" y="5669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github.com/agusclap/actividad-eda-pokemon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8FAFC"/>
                </a:solidFill>
                <a:latin typeface="Segoe UI"/>
              </a:rPr>
              <a:t>Outliers: anomalías estadísticas, no errores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074920" cy="1764792"/>
          </a:xfrm>
          <a:prstGeom prst="roundRect">
            <a:avLst>
              <a:gd name="adj" fmla="val 3500"/>
            </a:avLst>
          </a:prstGeom>
          <a:solidFill>
            <a:srgbClr val="1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343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Segoe UI"/>
              </a:rPr>
              <a:t>DETECCIÓN — regla del IQR (k = 1,5)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52 Pokémon (6,5 %) son outliers en al menos una stat; ninguna supera el 2,4 %.</a:t>
            </a:r>
          </a:p>
          <a:p>
            <a:pPr algn="l"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F97316"/>
                </a:solidFill>
                <a:latin typeface="Segoe UI"/>
              </a:rPr>
              <a:t>Total: 0 outliers, pese a que sus 6 componentes sí tienen. Los extremos se compensan (Shuckle: 230 de defensa, 5 de speed).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27832"/>
            <a:ext cx="5074920" cy="1764792"/>
          </a:xfrm>
          <a:prstGeom prst="roundRect">
            <a:avLst>
              <a:gd name="adj" fmla="val 3500"/>
            </a:avLst>
          </a:prstGeom>
          <a:solidFill>
            <a:srgbClr val="1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56432"/>
            <a:ext cx="4343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Segoe UI"/>
              </a:rPr>
              <a:t>NATURALEZA — ninguno es un error de carga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Shedinja (HP = 1) es el único outlier inferior y responde a un diseño deliberado del juego, no a un dato mal cargado.</a:t>
            </a:r>
          </a:p>
          <a:p>
            <a:pPr algn="l"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El 60 % son legendarios o Megas: pasan del 8,1 % del dataset al 36,5 % de los outliers (4,5×).</a:t>
            </a:r>
          </a:p>
        </p:txBody>
      </p:sp>
      <p:pic>
        <p:nvPicPr>
          <p:cNvPr id="8" name="Picture 7" descr="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34440"/>
            <a:ext cx="5742432" cy="34721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193792"/>
            <a:ext cx="11091672" cy="1298448"/>
          </a:xfrm>
          <a:prstGeom prst="roundRect">
            <a:avLst>
              <a:gd name="adj" fmla="val 3500"/>
            </a:avLst>
          </a:prstGeom>
          <a:solidFill>
            <a:srgbClr val="101B33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76672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97316"/>
                </a:solidFill>
                <a:latin typeface="Segoe UI"/>
              </a:rPr>
              <a:t>✓  Decisión: no se eliminan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El outlier es la señal, no el ruido: descartarlos borraría 19 de los 65 legendarios (29 % de la clase minoritaria).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Técnicas si se modelara:  RobustScaler (mediana + IQR) en vez de StandardScaler  ·  split agrupado por # para evitar fuga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F8FAFC"/>
                </a:solidFill>
                <a:latin typeface="Segoe UI"/>
              </a:rPr>
              <a:t>entre una forma base y su Mega  ·  stratify + métricas F1 / recall por el desbalance 8 / 92.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1055" y="5669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github.com/agusclap/actividad-eda-pokemon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