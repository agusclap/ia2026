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97316"/>
                </a:solidFill>
                <a:latin typeface="Segoe UI"/>
              </a:rPr>
              <a:t>IUA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949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8FAFC"/>
                </a:solidFill>
                <a:latin typeface="Segoe UI"/>
              </a:rPr>
              <a:t>EDA — Dataset Pokémon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2300" b="0">
                <a:solidFill>
                  <a:srgbClr val="94A3B8"/>
                </a:solidFill>
                <a:latin typeface="Segoe UI"/>
              </a:rPr>
              <a:t>800 registros · 6 generaciones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Segoe UI"/>
              </a:rPr>
              <a:t>Actividad 3 · Inteligencia Artificial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2000" b="1">
                <a:solidFill>
                  <a:srgbClr val="F8FAFC"/>
                </a:solidFill>
                <a:latin typeface="Segoe UI"/>
              </a:rPr>
              <a:t>Rodeyro, Agustín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00200"/>
            <a:ext cx="3429000" cy="3566160"/>
          </a:xfrm>
          <a:prstGeom prst="roundRect">
            <a:avLst>
              <a:gd name="adj" fmla="val 3500"/>
            </a:avLst>
          </a:prstGeom>
          <a:solidFill>
            <a:srgbClr val="1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965960"/>
            <a:ext cx="26517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Segoe UI"/>
              </a:rPr>
              <a:t>EL DATASET EN NÚMEROS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</a:pPr>
            <a:r>
              <a:rPr sz="3000" b="1">
                <a:solidFill>
                  <a:srgbClr val="F8FAFC"/>
                </a:solidFill>
                <a:latin typeface="Segoe UI"/>
              </a:rPr>
              <a:t>800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filas × 13 columnas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3000" b="1">
                <a:solidFill>
                  <a:srgbClr val="F8FAFC"/>
                </a:solidFill>
                <a:latin typeface="Segoe UI"/>
              </a:rPr>
              <a:t>18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tipos primarios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3000" b="1">
                <a:solidFill>
                  <a:srgbClr val="F8FAFC"/>
                </a:solidFill>
                <a:latin typeface="Segoe UI"/>
              </a:rPr>
              <a:t>65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legendarios (8,1 %)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github.com/agusclap/actividad-eda-pokemon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8FAFC"/>
                </a:solidFill>
                <a:latin typeface="Segoe UI"/>
              </a:rPr>
              <a:t>El dataset y sus tres rarezas estructurales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074920" cy="3758184"/>
          </a:xfrm>
          <a:prstGeom prst="roundRect">
            <a:avLst>
              <a:gd name="adj" fmla="val 3500"/>
            </a:avLst>
          </a:prstGeom>
          <a:solidFill>
            <a:srgbClr val="1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43891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Segoe UI"/>
              </a:rPr>
              <a:t>FICHA TÉCNICA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1400" b="0">
                <a:solidFill>
                  <a:srgbClr val="F8FAFC"/>
                </a:solidFill>
                <a:latin typeface="Segoe UI"/>
              </a:rPr>
              <a:t>Pokémon (Kaggle) — 800 × 13 · 179 KB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150" b="0">
                <a:solidFill>
                  <a:srgbClr val="94A3B8"/>
                </a:solidFill>
                <a:latin typeface="Segoe UI"/>
              </a:rPr>
              <a:t>Entra entero en memoria: no requiere muestreo, pero son pocas filas para modelos complejos.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1250" b="0">
                <a:solidFill>
                  <a:srgbClr val="F8FAFC"/>
                </a:solidFill>
                <a:latin typeface="Segoe UI"/>
              </a:rPr>
              <a:t>6 numéricas   stats base (HP … Speed)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50" b="0">
                <a:solidFill>
                  <a:srgbClr val="F8FAFC"/>
                </a:solidFill>
                <a:latin typeface="Segoe UI"/>
              </a:rPr>
              <a:t>1 derivada   Total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50" b="0">
                <a:solidFill>
                  <a:srgbClr val="F8FAFC"/>
                </a:solidFill>
                <a:latin typeface="Segoe UI"/>
              </a:rPr>
              <a:t>3 categóricas   Type 1, Type 2, Generation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50" b="0">
                <a:solidFill>
                  <a:srgbClr val="F8FAFC"/>
                </a:solidFill>
                <a:latin typeface="Segoe UI"/>
              </a:rPr>
              <a:t>1 booleana   Legendary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50" b="0">
                <a:solidFill>
                  <a:srgbClr val="F8FAFC"/>
                </a:solidFill>
                <a:latin typeface="Segoe UI"/>
              </a:rPr>
              <a:t>2 identificadores   #, Name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</a:pPr>
            <a:r>
              <a:rPr sz="1300" b="1">
                <a:solidFill>
                  <a:srgbClr val="F97316"/>
                </a:solidFill>
                <a:latin typeface="Segoe UI"/>
              </a:rPr>
              <a:t>0 duplicados exactos · 0 nulos reales</a:t>
            </a:r>
          </a:p>
        </p:txBody>
      </p:sp>
      <p:pic>
        <p:nvPicPr>
          <p:cNvPr id="6" name="Picture 5" descr="completit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34440"/>
            <a:ext cx="5742432" cy="37325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193792"/>
            <a:ext cx="11091672" cy="1298448"/>
          </a:xfrm>
          <a:prstGeom prst="roundRect">
            <a:avLst>
              <a:gd name="adj" fmla="val 3500"/>
            </a:avLst>
          </a:prstGeom>
          <a:solidFill>
            <a:srgbClr val="101B33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376672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97316"/>
                </a:solidFill>
                <a:latin typeface="Segoe UI"/>
              </a:rPr>
              <a:t>⚠  Hallazgo clave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150" b="0">
                <a:solidFill>
                  <a:srgbClr val="F8FAFC"/>
                </a:solidFill>
                <a:latin typeface="Segoe UI"/>
              </a:rPr>
              <a:t>1.  Los 386 nulos de Type 2 no son datos faltantes: son Pokémon mono-tipo. Un dropna() borraría el 48 % del dataset.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50" b="0">
                <a:solidFill>
                  <a:srgbClr val="F8FAFC"/>
                </a:solidFill>
                <a:latin typeface="Segoe UI"/>
              </a:rPr>
              <a:t>2.  # no es clave primaria — 800 filas pero 721 números: las 49 formas Mega comparten número con su forma base.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50" b="0">
                <a:solidFill>
                  <a:srgbClr val="F8FAFC"/>
                </a:solidFill>
                <a:latin typeface="Segoe UI"/>
              </a:rPr>
              <a:t>3.  Total es una columna derivada: suma exacta de las 6 stats en las 800 filas → multicolinealidad perfecta.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1055" y="5669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github.com/agusclap/actividad-eda-pokemon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8FAFC"/>
                </a:solidFill>
                <a:latin typeface="Segoe UI"/>
              </a:rPr>
              <a:t>Outliers: anomalías estadísticas, no errores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074920" cy="1764792"/>
          </a:xfrm>
          <a:prstGeom prst="roundRect">
            <a:avLst>
              <a:gd name="adj" fmla="val 3500"/>
            </a:avLst>
          </a:prstGeom>
          <a:solidFill>
            <a:srgbClr val="1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343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Segoe UI"/>
              </a:rPr>
              <a:t>DETECCIÓN — regla del IQR (k = 1,5)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150" b="0">
                <a:solidFill>
                  <a:srgbClr val="F8FAFC"/>
                </a:solidFill>
                <a:latin typeface="Segoe UI"/>
              </a:rPr>
              <a:t>52 Pokémon (6,5 %) son outliers en al menos una stat; ninguna supera el 2,4 %.</a:t>
            </a:r>
          </a:p>
          <a:p>
            <a:pPr algn="l">
              <a:lnSpc>
                <a:spcPct val="118000"/>
              </a:lnSpc>
              <a:spcBef>
                <a:spcPts val="700"/>
              </a:spcBef>
            </a:pPr>
            <a:r>
              <a:rPr sz="1150" b="0">
                <a:solidFill>
                  <a:srgbClr val="F97316"/>
                </a:solidFill>
                <a:latin typeface="Segoe UI"/>
              </a:rPr>
              <a:t>Total: 0 outliers, pese a que sus 6 componentes sí tienen. Los extremos se compensan (Shuckle: 230 de defensa, 5 de speed).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27832"/>
            <a:ext cx="5074920" cy="1764792"/>
          </a:xfrm>
          <a:prstGeom prst="roundRect">
            <a:avLst>
              <a:gd name="adj" fmla="val 3500"/>
            </a:avLst>
          </a:prstGeom>
          <a:solidFill>
            <a:srgbClr val="1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56432"/>
            <a:ext cx="4343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Segoe UI"/>
              </a:rPr>
              <a:t>NATURALEZA — ninguno es un error de carga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150" b="0">
                <a:solidFill>
                  <a:srgbClr val="F8FAFC"/>
                </a:solidFill>
                <a:latin typeface="Segoe UI"/>
              </a:rPr>
              <a:t>Shedinja (HP = 1) es el único outlier inferior y responde a un diseño deliberado del juego, no a un dato mal cargado.</a:t>
            </a:r>
          </a:p>
          <a:p>
            <a:pPr algn="l">
              <a:lnSpc>
                <a:spcPct val="118000"/>
              </a:lnSpc>
              <a:spcBef>
                <a:spcPts val="700"/>
              </a:spcBef>
            </a:pPr>
            <a:r>
              <a:rPr sz="1150" b="0">
                <a:solidFill>
                  <a:srgbClr val="F8FAFC"/>
                </a:solidFill>
                <a:latin typeface="Segoe UI"/>
              </a:rPr>
              <a:t>El 60 % son legendarios o Megas: pasan del 8,1 % del dataset al 36,5 % de los outliers (4,5×).</a:t>
            </a:r>
          </a:p>
        </p:txBody>
      </p:sp>
      <p:pic>
        <p:nvPicPr>
          <p:cNvPr id="8" name="Picture 7" descr="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34440"/>
            <a:ext cx="5742432" cy="34721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193792"/>
            <a:ext cx="11091672" cy="1298448"/>
          </a:xfrm>
          <a:prstGeom prst="roundRect">
            <a:avLst>
              <a:gd name="adj" fmla="val 3500"/>
            </a:avLst>
          </a:prstGeom>
          <a:solidFill>
            <a:srgbClr val="101B33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76672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97316"/>
                </a:solidFill>
                <a:latin typeface="Segoe UI"/>
              </a:rPr>
              <a:t>✓  Decisión: no se eliminan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150" b="0">
                <a:solidFill>
                  <a:srgbClr val="F8FAFC"/>
                </a:solidFill>
                <a:latin typeface="Segoe UI"/>
              </a:rPr>
              <a:t>El outlier es la señal, no el ruido: descartarlos borraría 19 de los 65 legendarios (29 % de la clase minoritaria).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50" b="0">
                <a:solidFill>
                  <a:srgbClr val="F8FAFC"/>
                </a:solidFill>
                <a:latin typeface="Segoe UI"/>
              </a:rPr>
              <a:t>Técnicas si se modelara:  RobustScaler (mediana + IQR) en vez de StandardScaler  ·  split agrupado por # para evitar fuga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F8FAFC"/>
                </a:solidFill>
                <a:latin typeface="Segoe UI"/>
              </a:rPr>
              <a:t>entre una forma base y su Mega  ·  stratify + métricas F1 / recall por el desbalance 8 / 92.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1055" y="5669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github.com/agusclap/actividad-eda-pokemon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