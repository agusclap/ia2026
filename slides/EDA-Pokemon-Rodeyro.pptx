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segundos — no te quedes acá]</a:t>
            </a:r>
          </a:p>
          <a:p/>
          <a:p>
            <a:r>
              <a:t>"Buenas. Soy Agustín Rodeyro y voy a presentar el análisis exploratorio del dataset de</a:t>
            </a:r>
          </a:p>
          <a:p>
            <a:r>
              <a:t>Pokémon de Kaggle: 800 registros, 13 columnas, 6 generaciones. El notebook completo está</a:t>
            </a:r>
          </a:p>
          <a:p>
            <a:r>
              <a:t>en el repositorio que figura abajo a la derecha."</a:t>
            </a:r>
          </a:p>
          <a:p/>
          <a:p>
            <a:r>
              <a:t>"El trabajo tiene dos partes: primero caracterizo el dataset y muestro tres rarezas en</a:t>
            </a:r>
          </a:p>
          <a:p>
            <a:r>
              <a:t>cómo está construido; después analizo los outliers y justifico qué hacer con ellos."</a:t>
            </a:r>
          </a:p>
          <a:p/>
          <a:p>
            <a:r>
              <a:t>[Pasá a la siguiente]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 a 4 minutos]</a:t>
            </a:r>
          </a:p>
          <a:p/>
          <a:p>
            <a:r>
              <a:t>— ABRIR CON LA FICHA —</a:t>
            </a:r>
          </a:p>
          <a:p>
            <a:r>
              <a:t>"El dataset son 800 filas por 13 columnas, 179 KB: entra entero en memoria. Seis</a:t>
            </a:r>
          </a:p>
          <a:p>
            <a:r>
              <a:t>variables numéricas que son las stats base, una derivada que es Total, tres categóricas,</a:t>
            </a:r>
          </a:p>
          <a:p>
            <a:r>
              <a:t>una booleana y dos identificadores."</a:t>
            </a:r>
          </a:p>
          <a:p/>
          <a:p>
            <a:r>
              <a:t>"Lo primero que sorprende es que está limpio: cero duplicados exactos y cero nulos</a:t>
            </a:r>
          </a:p>
          <a:p>
            <a:r>
              <a:t>reales."</a:t>
            </a:r>
          </a:p>
          <a:p/>
          <a:p>
            <a:r>
              <a:t>— EL GANCHO —</a:t>
            </a:r>
          </a:p>
          <a:p>
            <a:r>
              <a:t>"Pero tiene tres rarezas en cómo está construido."</a:t>
            </a:r>
          </a:p>
          <a:p/>
          <a:p>
            <a:r>
              <a:t>— RAREZA 1 (señalá la barra naranja del gráfico) —</a:t>
            </a:r>
          </a:p>
          <a:p>
            <a:r>
              <a:t>"Type 2 tiene 386 nulos, casi la mitad del dataset. Parece el problema de calidad más</a:t>
            </a:r>
          </a:p>
          <a:p>
            <a:r>
              <a:t>obvio, pero no lo es: son Pokémon mono-tipo. La ausencia de un segundo tipo ES el dato.</a:t>
            </a:r>
          </a:p>
          <a:p>
            <a:r>
              <a:t>Si hiciera un dropna borraría el 48 % del dataset sin motivo. Es la diferencia entre un</a:t>
            </a:r>
          </a:p>
          <a:p>
            <a:r>
              <a:t>valor faltante y uno que no aplica."</a:t>
            </a:r>
          </a:p>
          <a:p/>
          <a:p>
            <a:r>
              <a:t>— RAREZA 2 —</a:t>
            </a:r>
          </a:p>
          <a:p>
            <a:r>
              <a:t>"El numeral no es clave primaria: hay 800 filas pero solo 721 números distintos. Las 49</a:t>
            </a:r>
          </a:p>
          <a:p>
            <a:r>
              <a:t>formas Mega comparten el número de Pokédex con su forma base: Charizard, Mega Charizard X</a:t>
            </a:r>
          </a:p>
          <a:p>
            <a:r>
              <a:t>y Mega Charizard Y son los tres el número 6."</a:t>
            </a:r>
          </a:p>
          <a:p/>
          <a:p>
            <a:r>
              <a:t>— RAREZA 3 —</a:t>
            </a:r>
          </a:p>
          <a:p>
            <a:r>
              <a:t>"Y Total es una columna derivada. Verifiqué que en las 800 filas es exactamente la suma</a:t>
            </a:r>
          </a:p>
          <a:p>
            <a:r>
              <a:t>de las seis stats, sin una sola excepción. Por eso en el heatmap correlaciona entre 0,6 y</a:t>
            </a:r>
          </a:p>
          <a:p>
            <a:r>
              <a:t>0,75 con todas: no es un hallazgo, es aritmética. Y para modelar, usar Total junto a las</a:t>
            </a:r>
          </a:p>
          <a:p>
            <a:r>
              <a:t>seis stats sería multicolinealidad perfecta."</a:t>
            </a:r>
          </a:p>
          <a:p/>
          <a:p>
            <a:r>
              <a:t>[Pasá a la siguiente]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 a 5 minutos — es la diapo que más pesa]</a:t>
            </a:r>
          </a:p>
          <a:p/>
          <a:p>
            <a:r>
              <a:t>— DETECCIÓN —</a:t>
            </a:r>
          </a:p>
          <a:p>
            <a:r>
              <a:t>"Para los outliers apliqué la regla del IQR de Tukey con k igual a 1,5: se marca todo lo</a:t>
            </a:r>
          </a:p>
          <a:p>
            <a:r>
              <a:t>que caiga fuera de Q1 menos 1,5 por el rango intercuartílico, y Q3 más 1,5. Dieron 52</a:t>
            </a:r>
          </a:p>
          <a:p>
            <a:r>
              <a:t>Pokémon, el 6,5 %, outliers en al menos una stat. Ninguna stat individual supera el 2,4 %,</a:t>
            </a:r>
          </a:p>
          <a:p>
            <a:r>
              <a:t>lo que descarta errores sistemáticos de carga."</a:t>
            </a:r>
          </a:p>
          <a:p/>
          <a:p>
            <a:r>
              <a:t>— EL REMATE (bajá la velocidad acá) —</a:t>
            </a:r>
          </a:p>
          <a:p>
            <a:r>
              <a:t>"Pero acá está lo interesante: Total no tiene ningún outlier, aunque sus seis componentes</a:t>
            </a:r>
          </a:p>
          <a:p>
            <a:r>
              <a:t>sí tienen."</a:t>
            </a:r>
          </a:p>
          <a:p/>
          <a:p>
            <a:r>
              <a:t>"El caso que lo explica es Shuckle: tiene 230 de defensa y 230 de defensa especial, los</a:t>
            </a:r>
          </a:p>
          <a:p>
            <a:r>
              <a:t>dos máximos del dataset, pero 5 de velocidad y 10 de ataque. Suma 505, que es un Pokémon</a:t>
            </a:r>
          </a:p>
          <a:p>
            <a:r>
              <a:t>del montón."</a:t>
            </a:r>
          </a:p>
          <a:p/>
          <a:p>
            <a:r>
              <a:t>"O sea: los outliers de este dataset no son de poder, son de perfil. El juego reparte un</a:t>
            </a:r>
          </a:p>
          <a:p>
            <a:r>
              <a:t>presupuesto fijo de puntos, y si te destacás en algo lo pagás en otra cosa."</a:t>
            </a:r>
          </a:p>
          <a:p/>
          <a:p>
            <a:r>
              <a:t>— NATURALEZA —</a:t>
            </a:r>
          </a:p>
          <a:p>
            <a:r>
              <a:t>"Después miré quiénes son, porque eso es lo que decide si se eliminan. Shedinja tiene 1 de</a:t>
            </a:r>
          </a:p>
          <a:p>
            <a:r>
              <a:t>HP: es el único outlier por debajo del límite en las 800 filas y las seis stats. Y no es</a:t>
            </a:r>
          </a:p>
          <a:p>
            <a:r>
              <a:t>un error de carga: en el juego tiene una habilidad que lo hace casi invulnerable, así que</a:t>
            </a:r>
          </a:p>
          <a:p>
            <a:r>
              <a:t>le pusieron un punto de vida a propósito. El valor más anómalo del dataset es diseño</a:t>
            </a:r>
          </a:p>
          <a:p>
            <a:r>
              <a:t>deliberado."</a:t>
            </a:r>
          </a:p>
          <a:p/>
          <a:p>
            <a:r>
              <a:t>— LA DECISIÓN —</a:t>
            </a:r>
          </a:p>
          <a:p>
            <a:r>
              <a:t>"Por eso no los elimino. El 36,5 % de los outliers son legendarios, cuando en el dataset</a:t>
            </a:r>
          </a:p>
          <a:p>
            <a:r>
              <a:t>entero son el 8,1 %: están 4,5 veces sobrerrepresentados. Ser extremo es lo que define a</a:t>
            </a:r>
          </a:p>
          <a:p>
            <a:r>
              <a:t>un legendario. Si los borrara perdería 19 de los 65, el 29 % de la clase minoritaria."</a:t>
            </a:r>
          </a:p>
          <a:p/>
          <a:p>
            <a:r>
              <a:t>"Acá el outlier es la señal, no el ruido."</a:t>
            </a:r>
          </a:p>
          <a:p/>
          <a:p>
            <a:r>
              <a:t>— CIERRE —</a:t>
            </a:r>
          </a:p>
          <a:p>
            <a:r>
              <a:t>"Y esa es la conclusión general: este dataset no tiene problemas de calidad, tiene</a:t>
            </a:r>
          </a:p>
          <a:p>
            <a:r>
              <a:t>desafíos de estructura. Multicolinealidad, alta cardinalidad en los tipos, desbalance de</a:t>
            </a:r>
          </a:p>
          <a:p>
            <a:r>
              <a:t>clase y casi-duplicados por las formas alternativas. Por eso las técnicas que propongo son</a:t>
            </a:r>
          </a:p>
          <a:p>
            <a:r>
              <a:t>RobustScaler, split agrupado por número de Pokédex, y stratify con métricas F1 o recall."</a:t>
            </a:r>
          </a:p>
          <a:p/>
          <a:p>
            <a:r>
              <a:t>"Gracias, quedo para preguntas."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97316"/>
                </a:solidFill>
                <a:latin typeface="Segoe UI"/>
              </a:rPr>
              <a:t>IUA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8FAFC"/>
                </a:solidFill>
                <a:latin typeface="Segoe UI"/>
              </a:rPr>
              <a:t>EDA — Dataset Pokémon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2300" b="0">
                <a:solidFill>
                  <a:srgbClr val="94A3B8"/>
                </a:solidFill>
                <a:latin typeface="Segoe UI"/>
              </a:rPr>
              <a:t>800 registros · 6 generaciones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Segoe UI"/>
              </a:rPr>
              <a:t>Actividad 3 · Inteligencia Artificial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</a:pPr>
            <a:r>
              <a:rPr sz="2000" b="1">
                <a:solidFill>
                  <a:srgbClr val="F8FAFC"/>
                </a:solidFill>
                <a:latin typeface="Segoe UI"/>
              </a:rPr>
              <a:t>Rodeyro, Agustín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00200"/>
            <a:ext cx="3429000" cy="3566160"/>
          </a:xfrm>
          <a:prstGeom prst="roundRect">
            <a:avLst>
              <a:gd name="adj" fmla="val 3500"/>
            </a:avLst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965960"/>
            <a:ext cx="26517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97316"/>
                </a:solidFill>
                <a:latin typeface="Segoe UI"/>
              </a:rPr>
              <a:t>EL DATASET EN NÚMEROS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</a:pPr>
            <a:r>
              <a:rPr sz="3000" b="1">
                <a:solidFill>
                  <a:srgbClr val="F8FAFC"/>
                </a:solidFill>
                <a:latin typeface="Segoe UI"/>
              </a:rPr>
              <a:t>800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filas × 13 columnas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</a:pPr>
            <a:r>
              <a:rPr sz="3000" b="1">
                <a:solidFill>
                  <a:srgbClr val="F8FAFC"/>
                </a:solidFill>
                <a:latin typeface="Segoe UI"/>
              </a:rPr>
              <a:t>18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tipos primarios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</a:pPr>
            <a:r>
              <a:rPr sz="3000" b="1">
                <a:solidFill>
                  <a:srgbClr val="F8FAFC"/>
                </a:solidFill>
                <a:latin typeface="Segoe UI"/>
              </a:rPr>
              <a:t>65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legendarios (8,1 %)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71055" y="641908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Segoe UI"/>
              </a:rPr>
              <a:t>github.com/agusclap/actividad-eda-pokemon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AFC"/>
                </a:solidFill>
                <a:latin typeface="Segoe UI"/>
              </a:rPr>
              <a:t>El dataset y sus tres rarezas estructurales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5074920" cy="3758184"/>
          </a:xfrm>
          <a:prstGeom prst="roundRect">
            <a:avLst>
              <a:gd name="adj" fmla="val 3500"/>
            </a:avLst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389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97316"/>
                </a:solidFill>
                <a:latin typeface="Segoe UI"/>
              </a:rPr>
              <a:t>FICHA TÉCNICA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</a:pPr>
            <a:r>
              <a:rPr sz="1400" b="0">
                <a:solidFill>
                  <a:srgbClr val="F8FAFC"/>
                </a:solidFill>
                <a:latin typeface="Segoe UI"/>
              </a:rPr>
              <a:t>Pokémon (Kaggle) — 800 × 13 · 179 KB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50" b="0">
                <a:solidFill>
                  <a:srgbClr val="94A3B8"/>
                </a:solidFill>
                <a:latin typeface="Segoe UI"/>
              </a:rPr>
              <a:t>Entra entero en memoria: no requiere muestreo, pero son pocas filas para modelos complejos.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</a:pPr>
            <a:r>
              <a:rPr sz="1250" b="0">
                <a:solidFill>
                  <a:srgbClr val="F8FAFC"/>
                </a:solidFill>
                <a:latin typeface="Segoe UI"/>
              </a:rPr>
              <a:t>6 numéricas   stats base (HP … Speed)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250" b="0">
                <a:solidFill>
                  <a:srgbClr val="F8FAFC"/>
                </a:solidFill>
                <a:latin typeface="Segoe UI"/>
              </a:rPr>
              <a:t>1 derivada   Total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250" b="0">
                <a:solidFill>
                  <a:srgbClr val="F8FAFC"/>
                </a:solidFill>
                <a:latin typeface="Segoe UI"/>
              </a:rPr>
              <a:t>3 categóricas   Type 1, Type 2, Generation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250" b="0">
                <a:solidFill>
                  <a:srgbClr val="F8FAFC"/>
                </a:solidFill>
                <a:latin typeface="Segoe UI"/>
              </a:rPr>
              <a:t>1 booleana   Legendary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250" b="0">
                <a:solidFill>
                  <a:srgbClr val="F8FAFC"/>
                </a:solidFill>
                <a:latin typeface="Segoe UI"/>
              </a:rPr>
              <a:t>2 identificadores   #, Name</a:t>
            </a:r>
          </a:p>
          <a:p>
            <a:pPr algn="l">
              <a:lnSpc>
                <a:spcPct val="100000"/>
              </a:lnSpc>
              <a:spcBef>
                <a:spcPts val="1600"/>
              </a:spcBef>
            </a:pPr>
            <a:r>
              <a:rPr sz="1300" b="1">
                <a:solidFill>
                  <a:srgbClr val="F97316"/>
                </a:solidFill>
                <a:latin typeface="Segoe UI"/>
              </a:rPr>
              <a:t>0 duplicados exactos · 0 nulos reales</a:t>
            </a:r>
          </a:p>
        </p:txBody>
      </p:sp>
      <p:pic>
        <p:nvPicPr>
          <p:cNvPr id="6" name="Picture 5" descr="comple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234440"/>
            <a:ext cx="5742432" cy="373258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193792"/>
            <a:ext cx="11091672" cy="1298448"/>
          </a:xfrm>
          <a:prstGeom prst="roundRect">
            <a:avLst>
              <a:gd name="adj" fmla="val 3500"/>
            </a:avLst>
          </a:prstGeom>
          <a:solidFill>
            <a:srgbClr val="101B33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76672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97316"/>
                </a:solidFill>
                <a:latin typeface="Segoe UI"/>
              </a:rPr>
              <a:t>⚠  Hallazgo clave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1.  Los 386 nulos de Type 2 no son datos faltantes: son Pokémon mono-tipo. Un dropna() borraría el 48 % del dataset.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2.  # no es clave primaria — 800 filas pero 721 números: las 49 formas Mega comparten número con su forma base.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3.  Total es una columna derivada: suma exacta de las 6 stats en las 800 filas → multicolinealidad perfecta.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1055" y="5669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Segoe UI"/>
              </a:rPr>
              <a:t>github.com/agusclap/actividad-eda-pokemon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AFC"/>
                </a:solidFill>
                <a:latin typeface="Segoe UI"/>
              </a:rPr>
              <a:t>Outliers: anomalías estadísticas, no errores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5074920" cy="1764792"/>
          </a:xfrm>
          <a:prstGeom prst="roundRect">
            <a:avLst>
              <a:gd name="adj" fmla="val 3500"/>
            </a:avLst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97316"/>
                </a:solidFill>
                <a:latin typeface="Segoe UI"/>
              </a:rPr>
              <a:t>DETECCIÓN — regla del IQR (k = 1,5)</a:t>
            </a:r>
          </a:p>
          <a:p>
            <a:pPr algn="l">
              <a:lnSpc>
                <a:spcPct val="118000"/>
              </a:lnSpc>
              <a:spcBef>
                <a:spcPts val="9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52 Pokémon (6,5 %) son outliers en al menos una stat; ninguna supera el 2,4 %.</a:t>
            </a:r>
          </a:p>
          <a:p>
            <a:pPr algn="l">
              <a:lnSpc>
                <a:spcPct val="118000"/>
              </a:lnSpc>
              <a:spcBef>
                <a:spcPts val="700"/>
              </a:spcBef>
            </a:pPr>
            <a:r>
              <a:rPr sz="1150" b="0">
                <a:solidFill>
                  <a:srgbClr val="F97316"/>
                </a:solidFill>
                <a:latin typeface="Segoe UI"/>
              </a:rPr>
              <a:t>Total: 0 outliers, pese a que sus 6 componentes sí tienen. Los extremos se compensan (Shuckle: 230 de defensa, 5 de speed).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27832"/>
            <a:ext cx="5074920" cy="1764792"/>
          </a:xfrm>
          <a:prstGeom prst="roundRect">
            <a:avLst>
              <a:gd name="adj" fmla="val 3500"/>
            </a:avLst>
          </a:prstGeom>
          <a:solidFill>
            <a:srgbClr val="1B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56432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97316"/>
                </a:solidFill>
                <a:latin typeface="Segoe UI"/>
              </a:rPr>
              <a:t>NATURALEZA — ninguno es un error de carga</a:t>
            </a:r>
          </a:p>
          <a:p>
            <a:pPr algn="l">
              <a:lnSpc>
                <a:spcPct val="118000"/>
              </a:lnSpc>
              <a:spcBef>
                <a:spcPts val="9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Shedinja (HP = 1) es el único outlier inferior y responde a un diseño deliberado del juego, no a un dato mal cargado.</a:t>
            </a:r>
          </a:p>
          <a:p>
            <a:pPr algn="l">
              <a:lnSpc>
                <a:spcPct val="118000"/>
              </a:lnSpc>
              <a:spcBef>
                <a:spcPts val="7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El 60 % son legendarios o Megas: pasan del 8,1 % del dataset al 36,5 % de los outliers (4,5×).</a:t>
            </a:r>
          </a:p>
        </p:txBody>
      </p:sp>
      <p:pic>
        <p:nvPicPr>
          <p:cNvPr id="8" name="Picture 7" descr="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234440"/>
            <a:ext cx="5742432" cy="34721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93792"/>
            <a:ext cx="11091672" cy="1298448"/>
          </a:xfrm>
          <a:prstGeom prst="roundRect">
            <a:avLst>
              <a:gd name="adj" fmla="val 3500"/>
            </a:avLst>
          </a:prstGeom>
          <a:solidFill>
            <a:srgbClr val="101B33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76672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97316"/>
                </a:solidFill>
                <a:latin typeface="Segoe UI"/>
              </a:rPr>
              <a:t>✓  Decisión: no se eliminan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El outlier es la señal, no el ruido: descartarlos borraría 19 de los 65 legendarios (29 % de la clase minoritaria).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F8FAFC"/>
                </a:solidFill>
                <a:latin typeface="Segoe UI"/>
              </a:rPr>
              <a:t>Técnicas si se modelara:  RobustScaler (mediana + IQR) en vez de StandardScaler  ·  split agrupado por # para evitar fuga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F8FAFC"/>
                </a:solidFill>
                <a:latin typeface="Segoe UI"/>
              </a:rPr>
              <a:t>entre una forma base y su Mega  ·  stratify + métricas F1 / recall por el desbalance 8 / 92.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1055" y="5669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Segoe UI"/>
              </a:rPr>
              <a:t>github.com/agusclap/actividad-eda-pokemon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